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Bookman Old Style" panose="02050604050505020204" pitchFamily="18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Rockwell" panose="02060603020205020403" pitchFamily="18" charset="0"/>
      <p:regular r:id="rId23"/>
      <p:bold r:id="rId24"/>
      <p:italic r:id="rId25"/>
      <p:boldItalic r:id="rId26"/>
    </p:embeddedFont>
    <p:embeddedFont>
      <p:font typeface="Urbanist" panose="020B060402020202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C8701D-118B-4B37-9593-65437E4AFEA4}">
  <a:tblStyle styleId="{F2C8701D-118B-4B37-9593-65437E4AFE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0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9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07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5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5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2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19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8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9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37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08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378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223609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979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887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2609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26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6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910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6971" y="-31289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641967" y="-1"/>
            <a:ext cx="5986324" cy="566394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87521" y="100157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Nova Bank Credit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 Risk Analytics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968471" y="3019683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5BC0BE"/>
                </a:solidFill>
                <a:latin typeface="Lato"/>
                <a:ea typeface="Lato"/>
                <a:cs typeface="Lato"/>
                <a:sym typeface="Lato"/>
              </a:rPr>
              <a:t>Optimizing Lending Reliability for 32,581 Customers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7290345"/>
            <a:ext cx="11049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STRATEGIC PORTFOLIO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7912"/>
            <a:ext cx="528637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47912"/>
            <a:ext cx="52863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STRATEGIC DILEMMA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0911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FFD700"/>
                </a:solidFill>
                <a:latin typeface="Lato"/>
                <a:ea typeface="Lato"/>
                <a:cs typeface="Lato"/>
                <a:sym typeface="Lato"/>
              </a:rPr>
              <a:t>Finding the "Goldilocks Zone" between risk management and fair lending.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962024" y="2505073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5BC0BE"/>
                </a:solidFill>
                <a:latin typeface="Urbanist"/>
                <a:ea typeface="Urbanist"/>
                <a:cs typeface="Urbanist"/>
                <a:sym typeface="Urbanist"/>
              </a:rPr>
              <a:t>Excessive Strictness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4" y="2865451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 "too strict" policy results in the exclusion of potentially creditworthy customers, leading to missed revenue opportunities and stagnation in a competitive market.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2505074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rgbClr val="5BC0BE"/>
                </a:solidFill>
                <a:latin typeface="Urbanist"/>
                <a:ea typeface="Urbanist"/>
                <a:cs typeface="Urbanist"/>
                <a:sym typeface="Urbanist"/>
              </a:rPr>
              <a:t>Excessive Leniency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49" y="2865451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Approving too many high-risk loans triggers significant financial losses. Nova Bank currently faces a 21.8% default rate with $77.15M in estimated losses.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450012" y="1976437"/>
            <a:ext cx="50546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81437"/>
            <a:ext cx="5286375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SCALE &amp; TECHNICAL SCOPE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1976437"/>
            <a:ext cx="2095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32k+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2952750" y="2371725"/>
            <a:ext cx="2152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BC0BE"/>
                </a:solidFill>
                <a:latin typeface="Lato"/>
                <a:ea typeface="Lato"/>
                <a:cs typeface="Lato"/>
                <a:sym typeface="Lato"/>
              </a:rPr>
              <a:t>CUSTOMER RECORDS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928937"/>
            <a:ext cx="10668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D700"/>
                </a:solidFill>
                <a:latin typeface="Urbanist"/>
                <a:ea typeface="Urbanist"/>
                <a:cs typeface="Urbanist"/>
                <a:sym typeface="Urbanist"/>
              </a:rPr>
              <a:t>28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924050" y="3324225"/>
            <a:ext cx="1514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BC0BE"/>
                </a:solidFill>
                <a:latin typeface="Lato"/>
                <a:ea typeface="Lato"/>
                <a:cs typeface="Lato"/>
                <a:sym typeface="Lato"/>
              </a:rPr>
              <a:t>RISK FEATURES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" y="416718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BC0BE"/>
                </a:solidFill>
                <a:latin typeface="Lato"/>
                <a:ea typeface="Lato"/>
                <a:cs typeface="Lato"/>
                <a:sym typeface="Lato"/>
              </a:rPr>
              <a:t>KEY FEATURE CATEGORIES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7250" y="45672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Demographics: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Age, Income, Home Ownership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250" y="48720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Financials: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DTI, Credit History, Past Defaults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57250" y="5176837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Loan Details: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Amount, Grade, Interest Rate, Intent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9325"/>
            <a:ext cx="34925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19325"/>
            <a:ext cx="3492549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19325"/>
            <a:ext cx="3492549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END-TO-END ANALYTICAL PIPELINE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784223" y="3409950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Python EDA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57250" y="38766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Conducted Univariate &amp; Multivariate analysis. Addressed missing values using median imputation by Loan Grade.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62523" y="3409950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SQL Deep Dive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35549" y="3876675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Connected Python to SQL Server for structured analysis of default rates across demographics and loan intents.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340822" y="3409950"/>
            <a:ext cx="30671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Tableau BI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13849" y="3876675"/>
            <a:ext cx="292104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Developed executive dashboards to visualize $306M in disbursed loans and identify high-risk segments.</a:t>
            </a:r>
            <a:endParaRPr dirty="0"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264795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6450" y="264795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7599" y="2647950"/>
            <a:ext cx="5334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RISK BY LOAN INTENT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55673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Insight:</a:t>
            </a:r>
            <a:r>
              <a:rPr lang="en-US" sz="1500" b="0" i="1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Venture and Education loans show significantly higher reliability compared to Debt Consolidation.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1871662"/>
            <a:ext cx="11049000" cy="3409950"/>
          </a:xfrm>
          <a:prstGeom prst="roundRect">
            <a:avLst>
              <a:gd name="adj" fmla="val 0"/>
            </a:avLst>
          </a:prstGeom>
          <a:solidFill>
            <a:srgbClr val="1B26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17"/>
          <p:cNvGraphicFramePr/>
          <p:nvPr>
            <p:extLst>
              <p:ext uri="{D42A27DB-BD31-4B8C-83A1-F6EECF244321}">
                <p14:modId xmlns:p14="http://schemas.microsoft.com/office/powerpoint/2010/main" val="2428398954"/>
              </p:ext>
            </p:extLst>
          </p:nvPr>
        </p:nvGraphicFramePr>
        <p:xfrm>
          <a:off x="571500" y="1871662"/>
          <a:ext cx="11048975" cy="3409950"/>
        </p:xfrm>
        <a:graphic>
          <a:graphicData uri="http://schemas.openxmlformats.org/drawingml/2006/table">
            <a:tbl>
              <a:tblPr firstRow="1" bandRow="1">
                <a:noFill/>
                <a:tableStyleId>{F2C8701D-118B-4B37-9593-65437E4AFEA4}</a:tableStyleId>
              </a:tblPr>
              <a:tblGrid>
                <a:gridCol w="381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13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Loan Intent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C0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13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Default Rate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C0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B132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Risk Assessment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C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Debt Consolidation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28.38%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Critical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Medical Expenses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26.54%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Home Improvement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25.56%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Risk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Personal Use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19.49%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BBF2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Venture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bg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14.66%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22C55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Risk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Google Shape;150;p17"/>
          <p:cNvSpPr/>
          <p:nvPr/>
        </p:nvSpPr>
        <p:spPr>
          <a:xfrm>
            <a:off x="571500" y="3028950"/>
            <a:ext cx="3817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389387" y="3028950"/>
            <a:ext cx="3567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7956649" y="3028950"/>
            <a:ext cx="36638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71500" y="3590925"/>
            <a:ext cx="3817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4389387" y="3590925"/>
            <a:ext cx="3567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956649" y="3590925"/>
            <a:ext cx="36638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4152900"/>
            <a:ext cx="3817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389387" y="4152900"/>
            <a:ext cx="3567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956649" y="4152900"/>
            <a:ext cx="36638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4714875"/>
            <a:ext cx="38178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4389387" y="4714875"/>
            <a:ext cx="35672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956649" y="4714875"/>
            <a:ext cx="36638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22390"/>
            <a:ext cx="2381250" cy="1203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3250" y="4122390"/>
            <a:ext cx="2381250" cy="1203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71500" y="1531590"/>
            <a:ext cx="520065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HOMEOWNER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ADVANTAGE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292224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Home ownership is the strongest predictor of repayment stability. Renters pose the highest risk profile across all job categories.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4234575"/>
            <a:ext cx="2000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D700"/>
                </a:solidFill>
                <a:latin typeface="Lato"/>
                <a:ea typeface="Lato"/>
                <a:cs typeface="Lato"/>
                <a:sym typeface="Lato"/>
              </a:rPr>
              <a:t>7.47%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4922490"/>
            <a:ext cx="2000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OWNER DEFAULT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333750" y="4234575"/>
            <a:ext cx="2000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31.6%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3333750" y="4922490"/>
            <a:ext cx="20002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RENTER DEFAULT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DEFAULT RATE BY LOAN GRADE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52673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Risk escalates sharply beyond Grade C. Grades D-G represent catastrophic default probabilities.</a:t>
            </a:r>
            <a:endParaRPr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636261B-0AA9-E1D9-E98E-9913B0D8E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85875"/>
            <a:ext cx="11049000" cy="482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34125" y="1388853"/>
            <a:ext cx="4338638" cy="4178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76612"/>
            <a:ext cx="5286375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DTI &amp; INTEREST RISK "TOXIC MIX"</a:t>
            </a:r>
            <a:endParaRPr dirty="0"/>
          </a:p>
        </p:txBody>
      </p:sp>
      <p:sp>
        <p:nvSpPr>
          <p:cNvPr id="193" name="Google Shape;193;p20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1764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High interest rates combined with high Debt-to-Income (DTI) ratios create an environment where repayment becomes nearly impossible.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57250" y="366236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Lato"/>
                <a:ea typeface="Lato"/>
                <a:cs typeface="Lato"/>
                <a:sym typeface="Lato"/>
              </a:rPr>
              <a:t>RISK MATRIX FINDINGS: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57250" y="406241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High DTI + High Int: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79.89% Default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57250" y="4367212"/>
            <a:ext cx="4714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Low DTI + Low Int: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3.54% Default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57250" y="4672012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Instead of raising rates for high-risk customers, Nova Bank should consider outright refusal.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455350" y="2085974"/>
            <a:ext cx="7128401" cy="4131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9100" y="1966912"/>
            <a:ext cx="3581400" cy="132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9100" y="3487042"/>
            <a:ext cx="3581400" cy="1329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39100" y="5007173"/>
            <a:ext cx="3581400" cy="132963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TABLEAU DASHBOARD: PORTFOLIO KPIS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8277225" y="2205037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BC0BE"/>
                </a:solidFill>
                <a:latin typeface="Lato"/>
                <a:ea typeface="Lato"/>
                <a:cs typeface="Lato"/>
                <a:sym typeface="Lato"/>
              </a:rPr>
              <a:t>TOTAL LOANS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277225" y="2509837"/>
            <a:ext cx="3105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$306.02M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277225" y="3725167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DEFAULT RATE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277225" y="4029967"/>
            <a:ext cx="3105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21.54%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277225" y="5245298"/>
            <a:ext cx="3105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D700"/>
                </a:solidFill>
                <a:latin typeface="Lato"/>
                <a:ea typeface="Lato"/>
                <a:cs typeface="Lato"/>
                <a:sym typeface="Lato"/>
              </a:rPr>
              <a:t>AVG INT RATE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8277225" y="5550098"/>
            <a:ext cx="31051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11.04%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8412"/>
            <a:ext cx="52863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38412"/>
            <a:ext cx="52863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HISTORICAL &amp; GEOGRAPHIC TRENDS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962025" y="2928937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5BC0BE"/>
                </a:solidFill>
                <a:latin typeface="Urbanist"/>
                <a:ea typeface="Urbanist"/>
                <a:cs typeface="Urbanist"/>
                <a:sym typeface="Urbanist"/>
              </a:rPr>
              <a:t>Past Default Behavior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62025" y="329088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Borrowers with "Default History = Yes" show a 37.56% risk compared to 18% for first-timers. Even "Safe" grade customers increase risk if they have a prior default on file.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724650" y="2928937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5BC0BE"/>
                </a:solidFill>
                <a:latin typeface="Urbanist"/>
                <a:ea typeface="Urbanist"/>
                <a:cs typeface="Urbanist"/>
                <a:sym typeface="Urbanist"/>
              </a:rPr>
              <a:t>Regional Consistency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724650" y="32908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Default rates are remarkably stable across the three core markets: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724650" y="39004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Canada: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21.61%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724650" y="42052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USA: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21.57%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24650" y="451008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UK: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21.46%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STRATEGIC ACTION PLAN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5BC0B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1000125" y="2481262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Risk-Based Tiering: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Implement stricter policies for Grades D to G, including co-signers or collateral requirements.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000125" y="3024187"/>
            <a:ext cx="10620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Incentivize Stability: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Prioritize applicants with home ownership and full-time employment through dynamic interest rate discounts.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000125" y="3871912"/>
            <a:ext cx="10620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DTI Hard Caps: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Instead of raising interest rates for high-DTI borrowers, enforce hard refusal thresholds to avoid the "debt trap" default.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000125" y="4719637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Purpose-Specific Clauses:</a:t>
            </a:r>
            <a:r>
              <a:rPr lang="en-US" sz="1500" b="0" i="0" u="none" strike="noStrike" cap="none">
                <a:solidFill>
                  <a:srgbClr val="E0E1DD"/>
                </a:solidFill>
                <a:latin typeface="Lato"/>
                <a:ea typeface="Lato"/>
                <a:cs typeface="Lato"/>
                <a:sym typeface="Lato"/>
              </a:rPr>
              <a:t> Add minimum requirements or restricted terms for Debt Consolidation and Medical loans.</a:t>
            </a:r>
            <a:endParaRPr/>
          </a:p>
        </p:txBody>
      </p:sp>
      <p:pic>
        <p:nvPicPr>
          <p:cNvPr id="244" name="Google Shape;24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22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757737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42333"/>
            <a:ext cx="11049000" cy="93910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295275" y="1776412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5BC0BE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301466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BC0BE"/>
                </a:solidFill>
                <a:latin typeface="Lato"/>
                <a:ea typeface="Lato"/>
                <a:cs typeface="Lato"/>
                <a:sym typeface="Lato"/>
              </a:rPr>
              <a:t>Nova Bank: Customer Credit Risk Analytics</a:t>
            </a: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0</TotalTime>
  <Words>549</Words>
  <Application>Microsoft Office PowerPoint</Application>
  <PresentationFormat>Widescreen</PresentationFormat>
  <Paragraphs>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Rockwell</vt:lpstr>
      <vt:lpstr>Calibri</vt:lpstr>
      <vt:lpstr>Bookman Old Style</vt:lpstr>
      <vt:lpstr>Lato</vt:lpstr>
      <vt:lpstr>Urbanist</vt:lpstr>
      <vt:lpstr>Arial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Bá Khải (31231020293)</cp:lastModifiedBy>
  <cp:revision>2</cp:revision>
  <dcterms:modified xsi:type="dcterms:W3CDTF">2026-05-06T05:27:37Z</dcterms:modified>
</cp:coreProperties>
</file>